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463040" cy="29260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课程设计汇报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Apache Flink 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电子游戏销售数据分析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数据集：vgchartz-2024（64,016 条记录）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90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技术框架：Apache Flink 1.16.2 + Java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381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分析任务：9 个核心维度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大数据处理与分析课程设计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2026年6月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目录 /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0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研究背景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为什么开展这项数据分析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0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188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研究方法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321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数据源 · 技术框架 · 分析算法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548640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实验及结论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九大分析维度与核心发现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548640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展望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3212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收获总结与未来改进方向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/ 研究背景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为什么要开展这项数据分析？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电子游戏产业规模已超过 2000 亿美元，数据量激增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传统数据分析方法在处理数万条数据时存在效率瓶颈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Apache Flink 作为新一代分布式流处理框架，具备卓越的批处理能力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通过实际案例验证 Flink 在大数据处理方面的优势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挖掘电子游戏市场的内在规律，为行业决策提供数据支撑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069080" cy="18288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数据价值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多维度：平台 / 类型 / 出版商 / 地区 / 时间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847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大规模：64,016 条真实游戏销售记录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2311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高价值：评分与销量的关联揭示市场规律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069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技术意义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验证 Flink 批处理性能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813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掌握完整数据分析流程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1970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为课程教学提供实践案例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/ 研究方法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97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数据源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vgchartz-2024 数据集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64,016 条游戏销售记录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12 个核心字段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1977–2024 年时间跨度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05840"/>
            <a:ext cx="2697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05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大数据框架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691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Apache Flink 1.16.2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3317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Java 8 编程语言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971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Maven 构建管理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611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Python + Matplotlib 可视化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05840"/>
            <a:ext cx="2697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005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分析算法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1691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Flink DataStream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23317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Map / Filter / KeyBy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971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Reduce 聚合计算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3611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ProcessWindowFunction 排序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研究方法 / 数据源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5029200" cy="393192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2377440"/>
              </a:tblGrid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字段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类型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说明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游戏名称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console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发布平台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genre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游戏类型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publisher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发行商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开发商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critic_score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Double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评分(0-10)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total_sales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Double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全球总销量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na_sales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Double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北美销量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jp_sales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Double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日本销量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pal_sales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Double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欧洲销量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5029200" cy="347472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891B2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577840" y="960120"/>
            <a:ext cx="3291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577840" y="960120"/>
            <a:ext cx="329184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577840" y="960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数据预处理步骤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15000" y="1508760"/>
            <a:ext cx="347472" cy="347472"/>
          </a:xfrm>
          <a:prstGeom prst="rect">
            <a:avLst/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1500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172200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字段筛选：删除无关字段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715000" y="2167128"/>
            <a:ext cx="347472" cy="347472"/>
          </a:xfrm>
          <a:prstGeom prst="rect">
            <a:avLst/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172200" y="21671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缺失值处理：评分/销量填充为 0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715000" y="2825496"/>
            <a:ext cx="347472" cy="347472"/>
          </a:xfrm>
          <a:prstGeom prst="rect">
            <a:avLst/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1500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172200" y="28254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数据转换：提取年份信息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715000" y="3483864"/>
            <a:ext cx="347472" cy="347472"/>
          </a:xfrm>
          <a:prstGeom prst="rect">
            <a:avLst/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15000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172200" y="34838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数据过滤：过滤无效销售记录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715000" y="4142232"/>
            <a:ext cx="347472" cy="347472"/>
          </a:xfrm>
          <a:prstGeom prst="rect">
            <a:avLst/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15000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172200" y="41422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去重处理：删除完全重复行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数据来源：vgchartz.com | 时间跨度：1977–2024 | 有效记录：64,016 条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研究方法 / 技术架构与分析算法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828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8288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数据层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vgchartz-2024.csv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64,016 条记录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12848" y="1508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14600" y="1005840"/>
            <a:ext cx="1828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05840"/>
            <a:ext cx="18288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处理层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Apache Flink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9 个分析任务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61688" y="1508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1828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18288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输出层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文本结果文件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9 个输出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10528" y="1508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812280" y="1005840"/>
            <a:ext cx="1828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005840"/>
            <a:ext cx="18288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展示层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Python 可视化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9 张图表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606040"/>
            <a:ext cx="8412480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6060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Flink 核心算法流程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0632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136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① 数据解析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map 算子 → GameRecord 对象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0632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91840" y="3136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② 数据过滤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filter 算子 → 去除无效记录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0632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3136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③ 字段提取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map 算子 → 转换为 Tuple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0690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142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④ 分组聚合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480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keyBy + reduce → 按维度汇总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0" y="40690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291840" y="4142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⑤ 排序筛选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91840" y="4480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ProcessWindowFunction → TopN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40690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26480" y="4142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⑥ 结果输出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26480" y="4480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writeAsText → 本地文件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/ 实验及结论（9 个分析任务）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任务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平台统计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各平台游戏数量与销售额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50292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任务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游戏类型分析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1508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类型销售额占比与排名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05840"/>
            <a:ext cx="50292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任务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出版商 Top15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1508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发布游戏最多的出版商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331720"/>
            <a:ext cx="50292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任务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开发商 Top15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2834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开发游戏最多的开发商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33172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331720"/>
            <a:ext cx="50292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任务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94760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评分 vs 销量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94760" y="2834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Critic 评分与销量相关性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33172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331720"/>
            <a:ext cx="50292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任务 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年度趋势分析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2834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历年游戏数量与销售额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65760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657600"/>
            <a:ext cx="50292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任务 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3749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年度主流类型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4400" y="4160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每年最热门游戏类型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46120" y="365760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46120" y="3657600"/>
            <a:ext cx="50292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任务 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794760" y="3749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地区销售额分析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794760" y="4160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北美/日本/欧洲对比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365760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657600"/>
            <a:ext cx="50292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任务 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75120" y="3749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年度最佳游戏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675120" y="4160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每年销售额最高游戏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实验结论 / 平台统计 &amp; 游戏类型</a:t>
            </a:r>
            <a:endParaRPr lang="en-US" sz="2000" dirty="0"/>
          </a:p>
        </p:txBody>
      </p:sp>
      <p:pic>
        <p:nvPicPr>
          <p:cNvPr id="5" name="Image 0" descr="D:/IDEA/vgsales-flink/visualization/java_01_console_sta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4114800" cy="2011680"/>
          </a:xfrm>
          <a:prstGeom prst="rect">
            <a:avLst/>
          </a:prstGeom>
        </p:spPr>
      </p:pic>
      <p:pic>
        <p:nvPicPr>
          <p:cNvPr id="6" name="Image 1" descr="D:/IDEA/vgsales-flink/visualization/java_02_genre_sta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960120"/>
            <a:ext cx="41148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315468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029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平台结论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" y="3611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PS2 总销量最高：1,027.76 百万份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" y="3995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X360 次之：859.79 百万份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2920" y="43799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PS4 平均评分最高：7.6 分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09160" y="315468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8463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类型结论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46320" y="3611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Sports + Action + Shooter 占比超 50%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46320" y="3995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Shooter 平均销售额最高：0.72 百万/款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46320" y="43799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Action 类型在 24 个年份中为主流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实验结论 / 地区销售 &amp; 评分相关性</a:t>
            </a:r>
            <a:endParaRPr lang="en-US" sz="2000" dirty="0"/>
          </a:p>
        </p:txBody>
      </p:sp>
      <p:pic>
        <p:nvPicPr>
          <p:cNvPr id="5" name="Image 0" descr="D:/IDEA/vgsales-flink/visualization/java_08_region_s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4114800" cy="2011680"/>
          </a:xfrm>
          <a:prstGeom prst="rect">
            <a:avLst/>
          </a:prstGeom>
        </p:spPr>
      </p:pic>
      <p:pic>
        <p:nvPicPr>
          <p:cNvPr id="6" name="Image 1" descr="D:/IDEA/vgsales-flink/visualization/java_05_score_sales_cor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960120"/>
            <a:ext cx="41148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315468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029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地区销售结论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" y="3611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北美市场占 50.7%，是全球最大游戏消费市场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" y="3995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欧洲市场占 29.0%，成熟稳定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2920" y="43799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日本市场仅占 10.4%，人口基数限制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09160" y="315468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8463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评分与销量结论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46320" y="3611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评分与销量呈显著正相关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46320" y="3995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9.0–10.0 分游戏平均销售额是 0–4.9 分的 7.6 倍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46320" y="43799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评分超过 8.0 分后销售额增长显著加速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实验结论 / 年度趋势分析</a:t>
            </a:r>
            <a:endParaRPr lang="en-US" sz="2000" dirty="0"/>
          </a:p>
        </p:txBody>
      </p:sp>
      <p:pic>
        <p:nvPicPr>
          <p:cNvPr id="5" name="Image 0" descr="D:/IDEA/vgsales-flink/visualization/java_06_yearly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3832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383280"/>
            <a:ext cx="19659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383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起步期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840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490"/>
                </a:solidFill>
              </a:rPr>
              <a:t>1977–1989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年发布不足 100 款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14600" y="33832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3383280"/>
            <a:ext cx="19659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3383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成长期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14600" y="3840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490"/>
                </a:solidFill>
              </a:rPr>
              <a:t>1990–2000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06040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年发布 500–800 款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33832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3383280"/>
            <a:ext cx="19659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0" y="3383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成熟期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63440" y="3840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490"/>
                </a:solidFill>
              </a:rPr>
              <a:t>2001–2008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54880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2008 年达峰值 1,500+ 款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812280" y="33832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12280" y="3383280"/>
            <a:ext cx="19659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12280" y="3383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调整期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12280" y="3840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490"/>
                </a:solidFill>
              </a:rPr>
              <a:t>2009–2024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03720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数量稳定，质量提升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/ 展望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本次实验得到的知识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疫情（市场）数据分析表明：数据驱动决策对管理至关重要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Flink 批处理可高效处理 6 万+ 条结构化数据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评分与销量强正相关：高质量游戏市场回报更高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北美是最大游戏消费市场，地区差异显著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566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Sports / Action / Shooter 为三大主流类型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069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掌握了完整数据分析流程：清洗 → 处理 → 可视化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069080" cy="18288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课程学习收获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掌握 Apache Flink 批处理编程方法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理解大数据处理完整流程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学会用 Python 进行数据可视化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未来改进方向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383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分布式部署：扩展至 Flink 集群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767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Flink SQL：替代部分 DataStream 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1513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实时处理：增加流式数据分析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45354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用户行为分析：结合评论与评分数据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感谢聆听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基于 Apache Flink 的电子游戏销售数据分析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大数据处理与分析课程设计 | 2026年6月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基于Apache Flink的电子游戏销售数据分析</dc:title>
  <dc:subject>PptxGenJS Presentation</dc:subject>
  <dc:creator>课程设计</dc:creator>
  <cp:lastModifiedBy>课程设计</cp:lastModifiedBy>
  <cp:revision>1</cp:revision>
  <dcterms:created xsi:type="dcterms:W3CDTF">2026-06-05T13:40:47Z</dcterms:created>
  <dcterms:modified xsi:type="dcterms:W3CDTF">2026-06-05T13:40:47Z</dcterms:modified>
</cp:coreProperties>
</file>